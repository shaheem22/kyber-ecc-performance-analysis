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PROGRESS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Handshake Resilience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Lossy IoT Networks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ECC-TLS  vs.  Kyber-TLS  ·  MQTT  ·  NetEm  ·  1,260 Trials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274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Maisam Raza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Ahtasham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Shaheem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CY315 — Wireless and Mobile Security  ·  Spring 2026  ·  Dr. Muhammad Fawad Khan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8745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 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3931920"/>
            <a:ext cx="18745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ECC-TLS  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931920"/>
            <a:ext cx="18745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Kyber-TLS  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3931920"/>
            <a:ext cx="18745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7548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475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8686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Motivation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252728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Research gaps, threat model, IoT context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7548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777240"/>
            <a:ext cx="475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76088" y="8686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76088" y="1252728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Objectives, methodology plan, scope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203704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03704"/>
            <a:ext cx="47548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03704"/>
            <a:ext cx="475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" y="2295144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Setup &amp; Implementation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67919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MQTT/TLS stack, ECC &amp; Kyber integration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203704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03704"/>
            <a:ext cx="47548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203704"/>
            <a:ext cx="475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76088" y="2295144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Resolved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76088" y="2679192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issues encountered and fixed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3016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30168"/>
            <a:ext cx="47548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30168"/>
            <a:ext cx="475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41248" y="372160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4105656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1,260 trials — mean, variance, P95, JSI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63016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30168"/>
            <a:ext cx="47548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630168"/>
            <a:ext cx="475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76088" y="372160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76088" y="4105656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data tells us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Background &amp; Motivation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PQC? Why IoT? Why now?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Quantum Threat Meets IoT Reality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64008" cy="19019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6868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Shor's Algorithm Threat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16152"/>
            <a:ext cx="38587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Breaks ECC &amp; RSA. A sufficiently large quantum computer renders today's TLS handshakes trivially decryptable.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64008" cy="19019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86868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IoT Network Reality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216152"/>
            <a:ext cx="38587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29 billion devices by 2030. Operate over 5G, LoRaWAN, satellite — links with 1–10% packet loss and high jitter.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62072"/>
            <a:ext cx="41148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62072"/>
            <a:ext cx="64008" cy="19019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95351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Research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300984"/>
            <a:ext cx="38587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PQC-IoTNet [Almutairi &amp; Sheldon, 2026] only tested 0% &amp; 5% loss, 20 trials, no jitter — insufficient for deployment decisions.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862072"/>
            <a:ext cx="41148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62072"/>
            <a:ext cx="64008" cy="19019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95351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Our Goal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3300984"/>
            <a:ext cx="38587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Determine the precise operational boundaries of Kyber handshakes under realistic adverse conditions and compare to ECC.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Project Proposal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 2: Implementation &amp; Optimization — CY315 Spring 2026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&amp; Deliverables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Packet Loss: 0%, 1%, 2%, 3%, 5%, 7%, 10%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Jitter: 0, 20, 50 ms random latency variance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Base Delay: 50 ms (WAN emulation)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Trials: 30 per scenario (vs. 20 in baseline)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43814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Platform: Ubuntu/WSL2 + Linux NetEm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77240"/>
            <a:ext cx="4160520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77724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Deliverables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Cliff Graph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15910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Precise mapping of where Kyber success drops below 90%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185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Sensitivity Index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24597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Comparison of jitter impact: PQC vs. ECC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CSV Dataset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328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1,260+ trials for future PQC benchmarking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3922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4197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IEEE-format LaTeX report with comparative results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Framework Setup &amp; Implementation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the full MQTT/TLS benchmarking pipeline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Stack &amp; 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297680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v3.1.1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Application Layer — Eclipse Paho Python client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664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92224"/>
            <a:ext cx="42976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379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Layer — ECC-P256  →  Kyber-512 (OQS-provider)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633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61488"/>
            <a:ext cx="4297680" cy="77724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07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1455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Transport Layer — Reliable delivery over loopback (lo)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602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30752"/>
            <a:ext cx="4297680" cy="777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76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NetEm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Emulation Layer — packet loss · jitter · base delay (tc qdisc)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82296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10912" y="877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10912" y="10972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Mosquitto 2.0, port 8883, TLS enabled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148132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10912" y="1536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Certs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10912" y="17556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 + server cert, P-256, CN=localhost + SAN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13969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10912" y="2194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 Config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10912" y="24140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p256_kyber512 hybrid group, OQS-provider plugin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279806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10912" y="28529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10912" y="30723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time.perf_counter() — sub-ms resolution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45643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10912" y="35112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Output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10912" y="37307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CSV: timestamp, algorithm, loss%, jitter, trial, success, 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41148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10912" y="4169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10912" y="43891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orchestration script — 42 conditions × 30 trials each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— Full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20624" cy="4206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9052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Setup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Mosquitto MQTT broker · Paho Python client · Handshake timing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777240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868680"/>
            <a:ext cx="420624" cy="4206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868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67328" y="9052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Emulation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10128" y="13716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Linux NetEm configured · Loss/jitter/delay validated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71616" y="777240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868680"/>
            <a:ext cx="420624" cy="4206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868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5976" y="9052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Layer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08776" y="13716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Orchestration script · Multi-trial runner · CSV logging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6207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53512"/>
            <a:ext cx="420624" cy="4206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29900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ECC-TLS Baseline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345643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 + server certs · Port 8883 · Python TLS integration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72968" y="286207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953512"/>
            <a:ext cx="420624" cy="4206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67328" y="29900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Kyber-TLS Setup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10128" y="345643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liboqs + OQS-provider · Kyber-512 cipher suite · Parallel runner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71616" y="286207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2953512"/>
            <a:ext cx="420624" cy="4206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65976" y="29900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08776" y="345643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1,260 trials collected · Statistical processing · 6 figures generated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Key Challenges Resolved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issues encountered and fixed during development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Encountered &amp; How We Fixed Them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93268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59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Packet Loss Had No Effect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11521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 few MQTT packets — low probability of any being dropped under NetEm.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914400"/>
            <a:ext cx="64008" cy="7132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804672"/>
            <a:ext cx="64008" cy="9326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3088" y="859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Fixed: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33088" y="113385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Added multiple MQTT message exchanges per trial to increase traffic volume.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Observed realistic retransmission-induced latency spikes.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47088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47088"/>
            <a:ext cx="64008" cy="93268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Mosquitto Service Failure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Certificate files in /home/... were inaccessible by the Mosquitto service user.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1956816"/>
            <a:ext cx="64008" cy="7132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1847088"/>
            <a:ext cx="64008" cy="9326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33088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Fixed: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33088" y="217627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Moved certs to /etc/mosquitto/certs/ with correct ownership and permissions.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Broker started successfully with TLS on port 8883.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889504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89504"/>
            <a:ext cx="64008" cy="93268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TLS Handshake Errors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8912" y="32369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 certificate CN didn't match 'localhost'; missing SubjectAltName field.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2999232"/>
            <a:ext cx="64008" cy="7132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2889504"/>
            <a:ext cx="64008" cy="9326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33088" y="2944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Fixed: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33088" y="321868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Regenerated certificate with CN=localhost and SAN entries for localhost + 127.0.0.1.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Verified via openssl s_client — valid chain, correct server identity.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931920"/>
            <a:ext cx="64008" cy="93268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Kyber OQS Integration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38912" y="4279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OQS-provider required specific OpenSSL build flags and environment configuration.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0" y="4041648"/>
            <a:ext cx="64008" cy="7132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77640" y="3931920"/>
            <a:ext cx="64008" cy="9326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33088" y="3986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Fixed: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33088" y="426110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Compiled liboqs and oqs-provider from source; configured OPENSSL_CONF to load provider.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Kyber-512 cipher suite active and verified.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Experimental Results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1,260 trials · 7 loss levels · 3 jitter conditions · full statistical analysis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Performance — 0% Loss, 0 ms Jitter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8288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804672"/>
            <a:ext cx="23774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8046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ECC-TLS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22860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04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Kyber-TLS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804672"/>
            <a:ext cx="15544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804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182880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1188720"/>
            <a:ext cx="237744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588.8 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188720"/>
            <a:ext cx="228600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397.9 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1188720"/>
            <a:ext cx="155448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−32.4%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173736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0" y="173736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589.9 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73736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397.3 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173736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−32.7%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286000"/>
            <a:ext cx="182880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286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0" y="2286000"/>
            <a:ext cx="237744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 ms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2286000"/>
            <a:ext cx="228600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 ms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0" y="2286000"/>
            <a:ext cx="155448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2286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+28.7%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283464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0" y="283464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522.3 ms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283464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319.4 ms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15200" y="283464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−38.8%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74320" y="3383280"/>
            <a:ext cx="182880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286000" y="3383280"/>
            <a:ext cx="237744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727.1 ms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46320" y="3383280"/>
            <a:ext cx="228600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547.2 ms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15200" y="3383280"/>
            <a:ext cx="155448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−24.7%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74320" y="39319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286000" y="393192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0" y="3931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678.4 ms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846320" y="393192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3931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497.6 ms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315200" y="393192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−26.7%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EAF9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significant: two-sample t-test  t = 13.26,  p &lt; 0.001  (n=30 per algorithm)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Distribution — All 630 Trials per Algorithm</a:t>
            </a:r>
            <a:endParaRPr lang="en-US" sz="2000" dirty="0"/>
          </a:p>
        </p:txBody>
      </p:sp>
      <p:pic>
        <p:nvPicPr>
          <p:cNvPr id="5" name="Image 0" descr="/home/claude/report_figs/fig4_boxplot_overa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58952"/>
            <a:ext cx="84124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828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Kyber-TLS shows lower median, smaller IQR, and fewer extreme outliers than ECC-TLS across all conditions combined.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Handshake Time vs. Packet Loss (%)</a:t>
            </a:r>
            <a:endParaRPr lang="en-US" sz="2000" dirty="0"/>
          </a:p>
        </p:txBody>
      </p:sp>
      <p:pic>
        <p:nvPicPr>
          <p:cNvPr id="5" name="Image 0" descr="/home/claude/report_figs/fig1_mean_vs_lo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58952"/>
            <a:ext cx="84124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828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ECC-TLS mean latency rises more steeply under loss. Both algorithms degrade non-linearly — consistent with TCP exponential backoff.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(Std Dev) vs. Packet Loss — Predictability</a:t>
            </a:r>
            <a:endParaRPr lang="en-US" sz="2000" dirty="0"/>
          </a:p>
        </p:txBody>
      </p:sp>
      <p:pic>
        <p:nvPicPr>
          <p:cNvPr id="5" name="Image 0" descr="/home/claude/report_figs/fig2_stddev_vs_lo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58952"/>
            <a:ext cx="84124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828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ECC-TLS σ at 10% loss with 50ms jitter = 1,776 ms vs. Kyber-TLS 825 ms — 2.15× more unpredictable.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&amp; Worst-Case Latency vs. Packet Loss</a:t>
            </a:r>
            <a:endParaRPr lang="en-US" sz="2000" dirty="0"/>
          </a:p>
        </p:txBody>
      </p:sp>
      <p:pic>
        <p:nvPicPr>
          <p:cNvPr id="5" name="Image 0" descr="/home/claude/report_figs/fig3_p95_vs_lo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58952"/>
            <a:ext cx="429768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8188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95th Percentile Latency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617720" y="758952"/>
            <a:ext cx="18288" cy="40690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8" name="Image 1" descr="/home/claude/report_figs/fig6_worst_cas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758952"/>
            <a:ext cx="4297680" cy="4069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48188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Worst-Case (Max) Latency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Success Rate — Both Algorithms</a:t>
            </a:r>
            <a:endParaRPr lang="en-US" sz="2000" dirty="0"/>
          </a:p>
        </p:txBody>
      </p:sp>
      <p:pic>
        <p:nvPicPr>
          <p:cNvPr id="5" name="Image 0" descr="/home/claude/wams_project/WAMS project/analysis_outputs/01_failure_cliff_success_r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58952"/>
            <a:ext cx="84124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828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 success rate maintained by BOTH algorithms across all packet loss levels (0–10%). No failure cliff observed.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Impact — Mean &amp; Std Dev vs. Jitter (ms)</a:t>
            </a:r>
            <a:endParaRPr lang="en-US" sz="2000" dirty="0"/>
          </a:p>
        </p:txBody>
      </p:sp>
      <p:pic>
        <p:nvPicPr>
          <p:cNvPr id="5" name="Image 0" descr="/home/claude/wams_project/WAMS project/analysis_outputs/06_avg_handshake_vs_ji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58952"/>
            <a:ext cx="429768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8188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Avg Handshake Time vs. Jitter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617720" y="758952"/>
            <a:ext cx="18288" cy="40690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8" name="Image 1" descr="/home/claude/wams_project/WAMS project/analysis_outputs/07_stddev_vs_jit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758952"/>
            <a:ext cx="4297680" cy="4069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48188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Std Dev vs. Jitter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Sensitivity Index (JSI) — ECC vs. Kyber</a:t>
            </a:r>
            <a:endParaRPr lang="en-US" sz="2000" dirty="0"/>
          </a:p>
        </p:txBody>
      </p:sp>
      <p:pic>
        <p:nvPicPr>
          <p:cNvPr id="5" name="Image 0" descr="/home/claude/report_figs/fig5_jsi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58952"/>
            <a:ext cx="84124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828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JSI = mean(loss, jitter) / mean(loss, jitter=0). Values near 1.0 indicate jitter resilience. Both algorithms broadly JSI ≈ 0.85–1.15.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Per-Condition Boxplots — Jitter Level Comparison</a:t>
            </a:r>
            <a:endParaRPr lang="en-US" sz="2000" dirty="0"/>
          </a:p>
        </p:txBody>
      </p:sp>
      <p:pic>
        <p:nvPicPr>
          <p:cNvPr id="5" name="Image 0" descr="/home/claude/wams_project/WAMS project/analysis_outputs/11_boxplot_jitter_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" y="758952"/>
            <a:ext cx="2834640" cy="3767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" y="4572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 ms Jitter</a:t>
            </a:r>
            <a:endParaRPr lang="en-US" sz="1000" dirty="0"/>
          </a:p>
        </p:txBody>
      </p:sp>
      <p:pic>
        <p:nvPicPr>
          <p:cNvPr id="7" name="Image 1" descr="/home/claude/wams_project/WAMS project/analysis_outputs/11_boxplot_jitter_2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27248" y="758952"/>
            <a:ext cx="2834640" cy="3767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27248" y="4572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 ms Jitter</a:t>
            </a:r>
            <a:endParaRPr lang="en-US" sz="1000" dirty="0"/>
          </a:p>
        </p:txBody>
      </p:sp>
      <p:pic>
        <p:nvPicPr>
          <p:cNvPr id="9" name="Image 2" descr="/home/claude/wams_project/WAMS project/analysis_outputs/11_boxplot_jitter_50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53328" y="758952"/>
            <a:ext cx="2834640" cy="37673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53328" y="4572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ms Jitter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Key Findings &amp; Conclusions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data tells us about PQC deployment readiness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 vs. PQC-IoTNet Baseline [3]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17520" y="804672"/>
            <a:ext cx="25603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804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PQC-IoTNet [3]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77840" y="804672"/>
            <a:ext cx="32004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804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274320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188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 levels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1188720"/>
            <a:ext cx="256032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188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(0%, 5%)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188720"/>
            <a:ext cx="3200400" cy="475488"/>
          </a:xfrm>
          <a:prstGeom prst="rect">
            <a:avLst/>
          </a:prstGeom>
          <a:solidFill>
            <a:srgbClr val="E8F8EE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1887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(0–10%)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709928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7099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testing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1709928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17099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709928"/>
            <a:ext cx="3200400" cy="475488"/>
          </a:xfrm>
          <a:prstGeom prst="rect">
            <a:avLst/>
          </a:prstGeom>
          <a:solidFill>
            <a:srgbClr val="E8F8EE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7099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20, 50 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231136"/>
            <a:ext cx="274320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2311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Trials/scenario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2231136"/>
            <a:ext cx="256032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22311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2231136"/>
            <a:ext cx="3200400" cy="475488"/>
          </a:xfrm>
          <a:prstGeom prst="rect">
            <a:avLst/>
          </a:prstGeom>
          <a:solidFill>
            <a:srgbClr val="E8F8EE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23113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752344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75234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0" y="2752344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27523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2752344"/>
            <a:ext cx="3200400" cy="475488"/>
          </a:xfrm>
          <a:prstGeom prst="rect">
            <a:avLst/>
          </a:prstGeom>
          <a:solidFill>
            <a:srgbClr val="E8F8EE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7523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273552"/>
            <a:ext cx="274320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2735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metrics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17520" y="3273552"/>
            <a:ext cx="256032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32735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only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77840" y="3273552"/>
            <a:ext cx="3200400" cy="475488"/>
          </a:xfrm>
          <a:prstGeom prst="rect">
            <a:avLst/>
          </a:prstGeom>
          <a:solidFill>
            <a:srgbClr val="E8F8EE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2735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σ, P95, Max, JSI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79476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7947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17520" y="379476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37947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577840" y="3794760"/>
            <a:ext cx="3200400" cy="475488"/>
          </a:xfrm>
          <a:prstGeom prst="rect">
            <a:avLst/>
          </a:prstGeom>
          <a:solidFill>
            <a:srgbClr val="E8F8EE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37947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— all conditions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315968"/>
            <a:ext cx="274320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3159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cliff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017520" y="4315968"/>
            <a:ext cx="256032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0" y="4315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identified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77840" y="4315968"/>
            <a:ext cx="3200400" cy="475488"/>
          </a:xfrm>
          <a:prstGeom prst="rect">
            <a:avLst/>
          </a:prstGeom>
          <a:solidFill>
            <a:srgbClr val="E8F8EE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43159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reached ≤ 10% loss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6400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5039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Kyber 32.4% Faster at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397.9 ms vs. 588.8 ms mean — statistically significant (p &lt; 0.001, t = 13.26)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64008" cy="12344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85039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ECC More Sensitive to Packet Loss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234440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ECC at 10% loss: 1,696 ms mean (2.88× baseline). Kyber: 1,097 ms (2.76× baseline).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6712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67128"/>
            <a:ext cx="64008" cy="1234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4028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Success Rate — Both Algorithms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624328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failure cliff observed up to 10% packet loss. Connection reliability is not the constraint.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16712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167128"/>
            <a:ext cx="64008" cy="1234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24028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Jitter Has Minimal Independent Effect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2624328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JSI ≈ 0.85–1.15 for both. Packet loss — not jitter — drives latency degradation.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5701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57016"/>
            <a:ext cx="6400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3016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Variance is the Key Differentiator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014216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ECC σ at worst condition = 1,776 ms vs. Kyber 825 ms. Kyber 2.15× more predictable.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55701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557016"/>
            <a:ext cx="6400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63016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PQC Ready for IoT Deployment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4014216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Kyber-TLS is faster, lower-variance, and equally reliable — a clear winner for post-quantum migration.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Kyber-TLS Outperforms ECC-TLS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All Tested Conditions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8229600" cy="274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1920240" cy="1508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Kyber baseline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2148840"/>
            <a:ext cx="1920240" cy="1508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42032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Both algorithms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10% loss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2148840"/>
            <a:ext cx="1920240" cy="1508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2.15×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6864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Kyber variance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vs. ECC at 10%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11696" y="2148840"/>
            <a:ext cx="1920240" cy="1508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JSI ≈ 1.0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11696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Both algorithms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jitter-resilient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Empirical Analysis of PQC Handshake Resilience in Lossy IoT Networks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CY315 — Wireless and Mobile Security  |  Spring 2026  |  Maisam Raza · Abdullah Ahtasham · Muhammad Shaheem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PQC Handshake Resilience — Full Project Progress</dc:title>
  <dc:subject>PptxGenJS Presentation</dc:subject>
  <dc:creator>PptxGenJS</dc:creator>
  <cp:lastModifiedBy>PptxGenJS</cp:lastModifiedBy>
  <cp:revision>1</cp:revision>
  <dcterms:created xsi:type="dcterms:W3CDTF">2026-05-02T19:07:53Z</dcterms:created>
  <dcterms:modified xsi:type="dcterms:W3CDTF">2026-05-02T19:07:53Z</dcterms:modified>
</cp:coreProperties>
</file>